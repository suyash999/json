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7B61FF"/>
          </a:solidFill>
          <a:ln/>
        </p:spPr>
      </p:sp>
      <p:sp>
        <p:nvSpPr>
          <p:cNvPr id="4" name="Shape 2"/>
          <p:cNvSpPr/>
          <p:nvPr/>
        </p:nvSpPr>
        <p:spPr>
          <a:xfrm>
            <a:off x="6858000" y="731520"/>
            <a:ext cx="2286000" cy="2286000"/>
          </a:xfrm>
          <a:prstGeom prst="ellipse">
            <a:avLst/>
          </a:prstGeom>
          <a:solidFill>
            <a:srgbClr val="00D4AA">
              <a:alpha val="1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7315200" y="1188720"/>
            <a:ext cx="1645920" cy="1645920"/>
          </a:xfrm>
          <a:prstGeom prst="ellipse">
            <a:avLst/>
          </a:prstGeom>
          <a:solidFill>
            <a:srgbClr val="7B61FF">
              <a:alpha val="15000"/>
            </a:srgbClr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914400"/>
            <a:ext cx="594360" cy="5943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155448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Audio Intelligence Suite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457200" y="246888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Audio Analytics — 100% Open Source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457200" y="3017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Transcription  ·  Speaker Diarization  ·  Sentiment  ·  Emotion  ·  Themes  ·  Policy Detection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57200" y="4206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APIs  ·  No Cloud  ·  No Cost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822960"/>
          </a:xfrm>
          <a:prstGeom prst="rect">
            <a:avLst/>
          </a:prstGeom>
          <a:solidFill>
            <a:srgbClr val="14142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28016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117043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Review is Slow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280160" y="150876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spend 4-6 hours per day manually reviewing call recordings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57200" y="2057400"/>
            <a:ext cx="8229600" cy="822960"/>
          </a:xfrm>
          <a:prstGeom prst="rect">
            <a:avLst/>
          </a:prstGeom>
          <a:solidFill>
            <a:srgbClr val="14142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240280"/>
            <a:ext cx="411480" cy="4114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80160" y="213055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Buried in Audio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1280160" y="246888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customer sentiment, complaints, and policy issues go undetected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457200" y="3017520"/>
            <a:ext cx="8229600" cy="822960"/>
          </a:xfrm>
          <a:prstGeom prst="rect">
            <a:avLst/>
          </a:prstGeom>
          <a:solidFill>
            <a:srgbClr val="14142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200400"/>
            <a:ext cx="411480" cy="4114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80160" y="309067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Expensive APIs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1280160" y="342900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transcription &amp; analytics services cost $0.02-0.10/minute — adds up fast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457200" y="3977640"/>
            <a:ext cx="8229600" cy="822960"/>
          </a:xfrm>
          <a:prstGeom prst="rect">
            <a:avLst/>
          </a:prstGeom>
          <a:solidFill>
            <a:srgbClr val="14142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160520"/>
            <a:ext cx="411480" cy="41148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280160" y="405079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Privacy Concerns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1280160" y="438912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conversations can't be sent to third-party cloud services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Solution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app. One upload. Full intelligence.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2606040" cy="1463040"/>
          </a:xfrm>
          <a:prstGeom prst="rect">
            <a:avLst/>
          </a:prstGeom>
          <a:solidFill>
            <a:srgbClr val="14142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17320"/>
            <a:ext cx="2606040" cy="54864"/>
          </a:xfrm>
          <a:prstGeom prst="rect">
            <a:avLst/>
          </a:prstGeom>
          <a:solidFill>
            <a:srgbClr val="00D4A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64592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97280" y="16459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Transcription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219456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Whisper ASR — 99 languages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291840" y="1417320"/>
            <a:ext cx="2606040" cy="1463040"/>
          </a:xfrm>
          <a:prstGeom prst="rect">
            <a:avLst/>
          </a:prstGeom>
          <a:solidFill>
            <a:srgbClr val="14142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291840" y="1417320"/>
            <a:ext cx="2606040" cy="54864"/>
          </a:xfrm>
          <a:prstGeom prst="rect">
            <a:avLst/>
          </a:prstGeom>
          <a:solidFill>
            <a:srgbClr val="7B61F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0" y="164592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931920" y="16459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 Diarization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3474720" y="219456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said what, when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126480" y="1417320"/>
            <a:ext cx="2606040" cy="1463040"/>
          </a:xfrm>
          <a:prstGeom prst="rect">
            <a:avLst/>
          </a:prstGeom>
          <a:solidFill>
            <a:srgbClr val="14142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126480" y="1417320"/>
            <a:ext cx="2606040" cy="54864"/>
          </a:xfrm>
          <a:prstGeom prst="rect">
            <a:avLst/>
          </a:prstGeom>
          <a:solidFill>
            <a:srgbClr val="FF6B6B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645920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766560" y="16459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&amp; Tone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309360" y="219456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Per-segment pos/neg tracking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457200" y="3108960"/>
            <a:ext cx="2606040" cy="1463040"/>
          </a:xfrm>
          <a:prstGeom prst="rect">
            <a:avLst/>
          </a:prstGeom>
          <a:solidFill>
            <a:srgbClr val="14142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57200" y="3108960"/>
            <a:ext cx="2606040" cy="54864"/>
          </a:xfrm>
          <a:prstGeom prst="rect">
            <a:avLst/>
          </a:prstGeom>
          <a:solidFill>
            <a:srgbClr val="00D4AA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337560"/>
            <a:ext cx="365760" cy="36576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097280" y="33375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Extraction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640080" y="388620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 topic classification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3291840" y="3108960"/>
            <a:ext cx="2606040" cy="1463040"/>
          </a:xfrm>
          <a:prstGeom prst="rect">
            <a:avLst/>
          </a:prstGeom>
          <a:solidFill>
            <a:srgbClr val="14142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3291840" y="3108960"/>
            <a:ext cx="2606040" cy="54864"/>
          </a:xfrm>
          <a:prstGeom prst="rect">
            <a:avLst/>
          </a:prstGeom>
          <a:solidFill>
            <a:srgbClr val="FF6B6B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74720" y="3337560"/>
            <a:ext cx="365760" cy="36576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3931920" y="33375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Detection</a:t>
            </a:r>
            <a:endParaRPr lang="en-US" sz="1400" dirty="0"/>
          </a:p>
        </p:txBody>
      </p:sp>
      <p:sp>
        <p:nvSpPr>
          <p:cNvPr id="29" name="Text 22"/>
          <p:cNvSpPr/>
          <p:nvPr/>
        </p:nvSpPr>
        <p:spPr>
          <a:xfrm>
            <a:off x="3474720" y="388620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compliance issues</a:t>
            </a:r>
            <a:endParaRPr lang="en-US" sz="1100" dirty="0"/>
          </a:p>
        </p:txBody>
      </p:sp>
      <p:sp>
        <p:nvSpPr>
          <p:cNvPr id="30" name="Shape 23"/>
          <p:cNvSpPr/>
          <p:nvPr/>
        </p:nvSpPr>
        <p:spPr>
          <a:xfrm>
            <a:off x="6126480" y="3108960"/>
            <a:ext cx="2606040" cy="1463040"/>
          </a:xfrm>
          <a:prstGeom prst="rect">
            <a:avLst/>
          </a:prstGeom>
          <a:solidFill>
            <a:srgbClr val="14142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6126480" y="3108960"/>
            <a:ext cx="2606040" cy="54864"/>
          </a:xfrm>
          <a:prstGeom prst="rect">
            <a:avLst/>
          </a:prstGeom>
          <a:solidFill>
            <a:srgbClr val="FFD93D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9360" y="3337560"/>
            <a:ext cx="365760" cy="36576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6766560" y="33375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&amp; Reports</a:t>
            </a:r>
            <a:endParaRPr lang="en-US" sz="1400" dirty="0"/>
          </a:p>
        </p:txBody>
      </p:sp>
      <p:sp>
        <p:nvSpPr>
          <p:cNvPr id="34" name="Text 26"/>
          <p:cNvSpPr/>
          <p:nvPr/>
        </p:nvSpPr>
        <p:spPr>
          <a:xfrm>
            <a:off x="6309360" y="388620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+ TXT + visual dashboard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7B61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It Works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85800" y="1280160"/>
            <a:ext cx="640080" cy="640080"/>
          </a:xfrm>
          <a:prstGeom prst="ellipse">
            <a:avLst/>
          </a:prstGeom>
          <a:solidFill>
            <a:srgbClr val="00D4AA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280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0A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8760" y="141732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4320" y="210312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274320" y="242316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audio file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WAV, MP3, M4A, FLAC...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441448" y="1280160"/>
            <a:ext cx="640080" cy="640080"/>
          </a:xfrm>
          <a:prstGeom prst="ellipse">
            <a:avLst/>
          </a:prstGeom>
          <a:solidFill>
            <a:srgbClr val="7B61FF"/>
          </a:solidFill>
          <a:ln/>
        </p:spPr>
      </p:sp>
      <p:sp>
        <p:nvSpPr>
          <p:cNvPr id="10" name="Text 7"/>
          <p:cNvSpPr/>
          <p:nvPr/>
        </p:nvSpPr>
        <p:spPr>
          <a:xfrm>
            <a:off x="2441448" y="1280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0A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8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4408" y="1417320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029968" y="210312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Transcribe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2029968" y="242316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Whisper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Word-level timestamps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4197096" y="1280160"/>
            <a:ext cx="640080" cy="640080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15" name="Text 11"/>
          <p:cNvSpPr/>
          <p:nvPr/>
        </p:nvSpPr>
        <p:spPr>
          <a:xfrm>
            <a:off x="4197096" y="1280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0A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8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0056" y="1417320"/>
            <a:ext cx="320040" cy="3200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785616" y="210312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Diarize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3785616" y="242316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Spectral clustering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 separation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5952744" y="1280160"/>
            <a:ext cx="640080" cy="640080"/>
          </a:xfrm>
          <a:prstGeom prst="ellipse">
            <a:avLst/>
          </a:prstGeom>
          <a:solidFill>
            <a:srgbClr val="FFD93D"/>
          </a:solidFill>
          <a:ln/>
        </p:spPr>
      </p:sp>
      <p:sp>
        <p:nvSpPr>
          <p:cNvPr id="20" name="Text 15"/>
          <p:cNvSpPr/>
          <p:nvPr/>
        </p:nvSpPr>
        <p:spPr>
          <a:xfrm>
            <a:off x="5952744" y="1280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0A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80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5704" y="1417320"/>
            <a:ext cx="320040" cy="32004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541264" y="210312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5541264" y="242316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Sentiment, emotion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Themes, policy flags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7708392" y="1280160"/>
            <a:ext cx="640080" cy="640080"/>
          </a:xfrm>
          <a:prstGeom prst="ellipse">
            <a:avLst/>
          </a:prstGeom>
          <a:solidFill>
            <a:srgbClr val="00D4AA"/>
          </a:solidFill>
          <a:ln/>
        </p:spPr>
      </p:sp>
      <p:sp>
        <p:nvSpPr>
          <p:cNvPr id="25" name="Text 19"/>
          <p:cNvSpPr/>
          <p:nvPr/>
        </p:nvSpPr>
        <p:spPr>
          <a:xfrm>
            <a:off x="7708392" y="1280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0A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800" dirty="0"/>
          </a:p>
        </p:txBody>
      </p:sp>
      <p:sp>
        <p:nvSpPr>
          <p:cNvPr id="26" name="Text 20"/>
          <p:cNvSpPr/>
          <p:nvPr/>
        </p:nvSpPr>
        <p:spPr>
          <a:xfrm>
            <a:off x="7296912" y="210312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7296912" y="242316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 charts</a:t>
            </a:r>
            <a:endParaRPr lang="en-US" sz="1000" dirty="0"/>
          </a:p>
        </p:txBody>
      </p:sp>
      <p:sp>
        <p:nvSpPr>
          <p:cNvPr id="28" name="Shape 22"/>
          <p:cNvSpPr/>
          <p:nvPr/>
        </p:nvSpPr>
        <p:spPr>
          <a:xfrm>
            <a:off x="457200" y="3291840"/>
            <a:ext cx="8229600" cy="1371600"/>
          </a:xfrm>
          <a:prstGeom prst="rect">
            <a:avLst/>
          </a:prstGeom>
          <a:solidFill>
            <a:srgbClr val="14142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9" name="Text 23"/>
          <p:cNvSpPr/>
          <p:nvPr/>
        </p:nvSpPr>
        <p:spPr>
          <a:xfrm>
            <a:off x="640080" y="34290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Entire pipeline runs in under 2 minutes for a 5-minute recording</a:t>
            </a:r>
            <a:endParaRPr lang="en-US" sz="1500" dirty="0"/>
          </a:p>
        </p:txBody>
      </p:sp>
      <p:sp>
        <p:nvSpPr>
          <p:cNvPr id="30" name="Text 24"/>
          <p:cNvSpPr/>
          <p:nvPr/>
        </p:nvSpPr>
        <p:spPr>
          <a:xfrm>
            <a:off x="640080" y="379476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internet required during analysis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models cached locally after first download (~3 GB total)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accelerated when available — works on CPU too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FD9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 Stack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D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open-source. Zero vendor lock-in.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8229600" cy="411480"/>
          </a:xfrm>
          <a:prstGeom prst="rect">
            <a:avLst/>
          </a:prstGeom>
          <a:solidFill>
            <a:srgbClr val="7B61FF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3258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560320" y="13258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0" y="13258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858000" y="13258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1737360"/>
            <a:ext cx="8229600" cy="502920"/>
          </a:xfrm>
          <a:prstGeom prst="rect">
            <a:avLst/>
          </a:prstGeom>
          <a:solidFill>
            <a:srgbClr val="141422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73736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560320" y="17373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Whisper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200" y="17373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858000" y="17373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~140 MB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2240280"/>
            <a:ext cx="8229600" cy="50292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22402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560320" y="22402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DistilBERT SST-2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29200" y="22402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2.0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858000" y="22402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~260 MB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2743200"/>
            <a:ext cx="8229600" cy="502920"/>
          </a:xfrm>
          <a:prstGeom prst="rect">
            <a:avLst/>
          </a:prstGeom>
          <a:solidFill>
            <a:srgbClr val="141422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27432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560320" y="27432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DistilRoBERTa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029200" y="27432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858000" y="27432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~330 MB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3246120"/>
            <a:ext cx="8229600" cy="50292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32461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Themes + Policy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560320" y="32461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BART-large MNLI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029200" y="32461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858000" y="32461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~1.6 GB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57200" y="3749040"/>
            <a:ext cx="8229600" cy="502920"/>
          </a:xfrm>
          <a:prstGeom prst="rect">
            <a:avLst/>
          </a:prstGeom>
          <a:solidFill>
            <a:srgbClr val="141422"/>
          </a:solidFill>
          <a:ln/>
        </p:spPr>
      </p:sp>
      <p:sp>
        <p:nvSpPr>
          <p:cNvPr id="31" name="Text 29"/>
          <p:cNvSpPr/>
          <p:nvPr/>
        </p:nvSpPr>
        <p:spPr>
          <a:xfrm>
            <a:off x="457200" y="37490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2560320" y="37490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Extractive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029200" y="37490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858000" y="37490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MB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57200" y="4251960"/>
            <a:ext cx="8229600" cy="50292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6" name="Text 34"/>
          <p:cNvSpPr/>
          <p:nvPr/>
        </p:nvSpPr>
        <p:spPr>
          <a:xfrm>
            <a:off x="457200" y="425196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2560320" y="42519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+ Plotly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029200" y="42519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2.0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858000" y="42519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457200" y="4754880"/>
            <a:ext cx="8229600" cy="457200"/>
          </a:xfrm>
          <a:prstGeom prst="rect">
            <a:avLst/>
          </a:prstGeom>
          <a:solidFill>
            <a:srgbClr val="00D4AA">
              <a:alpha val="15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640080" y="47548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first-run download: ~2.3 GB — cached permanently after that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It Matters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1920240" cy="2103120"/>
          </a:xfrm>
          <a:prstGeom prst="rect">
            <a:avLst/>
          </a:prstGeom>
          <a:solidFill>
            <a:srgbClr val="14142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188720"/>
            <a:ext cx="1920240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46304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0D4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$0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365760" y="246888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560320" y="1188720"/>
            <a:ext cx="1920240" cy="2103120"/>
          </a:xfrm>
          <a:prstGeom prst="rect">
            <a:avLst/>
          </a:prstGeom>
          <a:solidFill>
            <a:srgbClr val="14142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560320" y="1188720"/>
            <a:ext cx="1920240" cy="54864"/>
          </a:xfrm>
          <a:prstGeom prst="rect">
            <a:avLst/>
          </a:prstGeom>
          <a:solidFill>
            <a:srgbClr val="7B61FF"/>
          </a:solidFill>
          <a:ln/>
        </p:spPr>
      </p:sp>
      <p:sp>
        <p:nvSpPr>
          <p:cNvPr id="10" name="Text 8"/>
          <p:cNvSpPr/>
          <p:nvPr/>
        </p:nvSpPr>
        <p:spPr>
          <a:xfrm>
            <a:off x="2560320" y="146304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7B61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2560320" y="246888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Stays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On-Premise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754880" y="1188720"/>
            <a:ext cx="1920240" cy="2103120"/>
          </a:xfrm>
          <a:prstGeom prst="rect">
            <a:avLst/>
          </a:prstGeom>
          <a:solidFill>
            <a:srgbClr val="14142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1188720"/>
            <a:ext cx="1920240" cy="54864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14" name="Text 12"/>
          <p:cNvSpPr/>
          <p:nvPr/>
        </p:nvSpPr>
        <p:spPr>
          <a:xfrm>
            <a:off x="4754880" y="146304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10+</a:t>
            </a:r>
            <a:endParaRPr lang="en-US" sz="4200" dirty="0"/>
          </a:p>
        </p:txBody>
      </p:sp>
      <p:sp>
        <p:nvSpPr>
          <p:cNvPr id="15" name="Text 13"/>
          <p:cNvSpPr/>
          <p:nvPr/>
        </p:nvSpPr>
        <p:spPr>
          <a:xfrm>
            <a:off x="4754880" y="246888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949440" y="1188720"/>
            <a:ext cx="1920240" cy="2103120"/>
          </a:xfrm>
          <a:prstGeom prst="rect">
            <a:avLst/>
          </a:prstGeom>
          <a:solidFill>
            <a:srgbClr val="14142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949440" y="1188720"/>
            <a:ext cx="1920240" cy="54864"/>
          </a:xfrm>
          <a:prstGeom prst="rect">
            <a:avLst/>
          </a:prstGeom>
          <a:solidFill>
            <a:srgbClr val="FFD93D"/>
          </a:solidFill>
          <a:ln/>
        </p:spPr>
      </p:sp>
      <p:sp>
        <p:nvSpPr>
          <p:cNvPr id="18" name="Text 16"/>
          <p:cNvSpPr/>
          <p:nvPr/>
        </p:nvSpPr>
        <p:spPr>
          <a:xfrm>
            <a:off x="6949440" y="146304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D9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&lt;2m</a:t>
            </a:r>
            <a:endParaRPr lang="en-US" sz="4200" dirty="0"/>
          </a:p>
        </p:txBody>
      </p:sp>
      <p:sp>
        <p:nvSpPr>
          <p:cNvPr id="19" name="Text 17"/>
          <p:cNvSpPr/>
          <p:nvPr/>
        </p:nvSpPr>
        <p:spPr>
          <a:xfrm>
            <a:off x="6949440" y="246888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3566160"/>
            <a:ext cx="8229600" cy="1188720"/>
          </a:xfrm>
          <a:prstGeom prst="rect">
            <a:avLst/>
          </a:prstGeom>
          <a:solidFill>
            <a:srgbClr val="14142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40080" y="36118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Compared to Cloud Solutions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0080" y="397764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Transcribe + Comprehend: ~$0.08/min = $480/mo for 100 hrs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Speech + NLP: ~$0.06/min = $360/mo for 100 hrs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Intelligence Suite: $0.00/min — forever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7B61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 Cases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977640" cy="1600200"/>
          </a:xfrm>
          <a:prstGeom prst="rect">
            <a:avLst/>
          </a:prstGeom>
          <a:solidFill>
            <a:srgbClr val="14142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64008" cy="160020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2344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Center QA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164592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Auto-review agent calls for tone, compliance, and theme coverage. Flag policy violations in real-time.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709160" y="1097280"/>
            <a:ext cx="3977640" cy="1600200"/>
          </a:xfrm>
          <a:prstGeom prst="rect">
            <a:avLst/>
          </a:prstGeom>
          <a:solidFill>
            <a:srgbClr val="14142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1097280"/>
            <a:ext cx="64008" cy="1600200"/>
          </a:xfrm>
          <a:prstGeom prst="rect">
            <a:avLst/>
          </a:prstGeom>
          <a:solidFill>
            <a:srgbClr val="7B61FF"/>
          </a:solidFill>
          <a:ln/>
        </p:spPr>
      </p:sp>
      <p:sp>
        <p:nvSpPr>
          <p:cNvPr id="10" name="Text 8"/>
          <p:cNvSpPr/>
          <p:nvPr/>
        </p:nvSpPr>
        <p:spPr>
          <a:xfrm>
            <a:off x="4983480" y="12344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Coaching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983480" y="164592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sales calls for objection handling, sentiment shifts, and talk-ratio imbalance between rep and prospect.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" y="2926080"/>
            <a:ext cx="3977640" cy="1600200"/>
          </a:xfrm>
          <a:prstGeom prst="rect">
            <a:avLst/>
          </a:prstGeom>
          <a:solidFill>
            <a:srgbClr val="14142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926080"/>
            <a:ext cx="64008" cy="160020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0632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31520" y="347472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Transcribe and analyze patient-provider conversations on-premise — HIPAA-safe, zero cloud exposure.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709160" y="2926080"/>
            <a:ext cx="3977640" cy="1600200"/>
          </a:xfrm>
          <a:prstGeom prst="rect">
            <a:avLst/>
          </a:prstGeom>
          <a:solidFill>
            <a:srgbClr val="14142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2926080"/>
            <a:ext cx="64008" cy="1600200"/>
          </a:xfrm>
          <a:prstGeom prst="rect">
            <a:avLst/>
          </a:prstGeom>
          <a:solidFill>
            <a:srgbClr val="FFD93D"/>
          </a:solidFill>
          <a:ln/>
        </p:spPr>
      </p:sp>
      <p:sp>
        <p:nvSpPr>
          <p:cNvPr id="18" name="Text 16"/>
          <p:cNvSpPr/>
          <p:nvPr/>
        </p:nvSpPr>
        <p:spPr>
          <a:xfrm>
            <a:off x="4983480" y="30632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D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 Intelligence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983480" y="347472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any meeting recording into searchable transcripts with speaker attribution, action items, and theme tracking.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 Dashboard Preview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320040" y="1097280"/>
            <a:ext cx="1234440" cy="822960"/>
          </a:xfrm>
          <a:prstGeom prst="rect">
            <a:avLst/>
          </a:prstGeom>
          <a:solidFill>
            <a:srgbClr val="14142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114300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D4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01:39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20040" y="155448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737360" y="1097280"/>
            <a:ext cx="1234440" cy="822960"/>
          </a:xfrm>
          <a:prstGeom prst="rect">
            <a:avLst/>
          </a:prstGeom>
          <a:solidFill>
            <a:srgbClr val="14142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737360" y="114300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D4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737360" y="155448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154680" y="1097280"/>
            <a:ext cx="1234440" cy="822960"/>
          </a:xfrm>
          <a:prstGeom prst="rect">
            <a:avLst/>
          </a:prstGeom>
          <a:solidFill>
            <a:srgbClr val="14142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154680" y="114300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D4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78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154680" y="155448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0" y="1097280"/>
            <a:ext cx="1234440" cy="822960"/>
          </a:xfrm>
          <a:prstGeom prst="rect">
            <a:avLst/>
          </a:prstGeom>
          <a:solidFill>
            <a:srgbClr val="14142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72000" y="114300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D4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572000" y="155448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WPM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989320" y="1097280"/>
            <a:ext cx="1234440" cy="822960"/>
          </a:xfrm>
          <a:prstGeom prst="rect">
            <a:avLst/>
          </a:prstGeom>
          <a:solidFill>
            <a:srgbClr val="14142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989320" y="114300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D4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80%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989320" y="155448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406640" y="1097280"/>
            <a:ext cx="1234440" cy="822960"/>
          </a:xfrm>
          <a:prstGeom prst="rect">
            <a:avLst/>
          </a:prstGeom>
          <a:solidFill>
            <a:srgbClr val="14142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406640" y="114300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D4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60%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7406640" y="155448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 Ratio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0040" y="2148840"/>
            <a:ext cx="4846320" cy="2651760"/>
          </a:xfrm>
          <a:prstGeom prst="rect">
            <a:avLst/>
          </a:prstGeom>
          <a:solidFill>
            <a:srgbClr val="14142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02920" y="21945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Diarized Transcript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02920" y="2606040"/>
            <a:ext cx="4480560" cy="438912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25" name="Shape 23"/>
          <p:cNvSpPr/>
          <p:nvPr/>
        </p:nvSpPr>
        <p:spPr>
          <a:xfrm>
            <a:off x="502920" y="2606040"/>
            <a:ext cx="45720" cy="438912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26" name="Text 24"/>
          <p:cNvSpPr/>
          <p:nvPr/>
        </p:nvSpPr>
        <p:spPr>
          <a:xfrm>
            <a:off x="685800" y="262432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 1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85800" y="2807208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Jane? Mark? Hi! It's been ages since I last saw you.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3931920" y="271576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502920" y="3108960"/>
            <a:ext cx="4480560" cy="438912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0" name="Shape 28"/>
          <p:cNvSpPr/>
          <p:nvPr/>
        </p:nvSpPr>
        <p:spPr>
          <a:xfrm>
            <a:off x="502920" y="3108960"/>
            <a:ext cx="45720" cy="438912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1" name="Text 29"/>
          <p:cNvSpPr/>
          <p:nvPr/>
        </p:nvSpPr>
        <p:spPr>
          <a:xfrm>
            <a:off x="685800" y="312724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 1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85800" y="3310128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you're new baby? George isn't it?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3931920" y="321868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502920" y="3611880"/>
            <a:ext cx="4480560" cy="438912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5" name="Shape 33"/>
          <p:cNvSpPr/>
          <p:nvPr/>
        </p:nvSpPr>
        <p:spPr>
          <a:xfrm>
            <a:off x="502920" y="3611880"/>
            <a:ext cx="45720" cy="438912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6" name="Text 34"/>
          <p:cNvSpPr/>
          <p:nvPr/>
        </p:nvSpPr>
        <p:spPr>
          <a:xfrm>
            <a:off x="685800" y="363016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 1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685800" y="3813048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now. What about you? Are you still working...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3931920" y="372160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502920" y="4114800"/>
            <a:ext cx="4480560" cy="438912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40" name="Shape 38"/>
          <p:cNvSpPr/>
          <p:nvPr/>
        </p:nvSpPr>
        <p:spPr>
          <a:xfrm>
            <a:off x="502920" y="4114800"/>
            <a:ext cx="45720" cy="438912"/>
          </a:xfrm>
          <a:prstGeom prst="rect">
            <a:avLst/>
          </a:prstGeom>
          <a:solidFill>
            <a:srgbClr val="7B61FF"/>
          </a:solidFill>
          <a:ln/>
        </p:spPr>
      </p:sp>
      <p:sp>
        <p:nvSpPr>
          <p:cNvPr id="41" name="Text 39"/>
          <p:cNvSpPr/>
          <p:nvPr/>
        </p:nvSpPr>
        <p:spPr>
          <a:xfrm>
            <a:off x="685800" y="413308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 2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685800" y="4315968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we're moving in a couple of months. Lovely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3931920" y="422452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5349240" y="2148840"/>
            <a:ext cx="3474720" cy="2651760"/>
          </a:xfrm>
          <a:prstGeom prst="rect">
            <a:avLst/>
          </a:prstGeom>
          <a:solidFill>
            <a:srgbClr val="14142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5532120" y="21945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Themes &amp; Emotions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5532120" y="26517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service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7040880" y="2697480"/>
            <a:ext cx="1600200" cy="18288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48" name="Shape 46"/>
          <p:cNvSpPr/>
          <p:nvPr/>
        </p:nvSpPr>
        <p:spPr>
          <a:xfrm>
            <a:off x="7040880" y="2697480"/>
            <a:ext cx="1360170" cy="18288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49" name="Text 47"/>
          <p:cNvSpPr/>
          <p:nvPr/>
        </p:nvSpPr>
        <p:spPr>
          <a:xfrm>
            <a:off x="5532120" y="303580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7040880" y="3081528"/>
            <a:ext cx="1600200" cy="18288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51" name="Shape 49"/>
          <p:cNvSpPr/>
          <p:nvPr/>
        </p:nvSpPr>
        <p:spPr>
          <a:xfrm>
            <a:off x="7040880" y="3081528"/>
            <a:ext cx="1152144" cy="18288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52" name="Text 50"/>
          <p:cNvSpPr/>
          <p:nvPr/>
        </p:nvSpPr>
        <p:spPr>
          <a:xfrm>
            <a:off x="5532120" y="341985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scheduling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7040880" y="3465576"/>
            <a:ext cx="1600200" cy="18288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54" name="Shape 52"/>
          <p:cNvSpPr/>
          <p:nvPr/>
        </p:nvSpPr>
        <p:spPr>
          <a:xfrm>
            <a:off x="7040880" y="3465576"/>
            <a:ext cx="928116" cy="18288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55" name="Text 53"/>
          <p:cNvSpPr/>
          <p:nvPr/>
        </p:nvSpPr>
        <p:spPr>
          <a:xfrm>
            <a:off x="5532120" y="38039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7040880" y="3849624"/>
            <a:ext cx="1600200" cy="18288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57" name="Shape 55"/>
          <p:cNvSpPr/>
          <p:nvPr/>
        </p:nvSpPr>
        <p:spPr>
          <a:xfrm>
            <a:off x="7040880" y="3849624"/>
            <a:ext cx="720090" cy="18288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58" name="Shape 56"/>
          <p:cNvSpPr/>
          <p:nvPr/>
        </p:nvSpPr>
        <p:spPr>
          <a:xfrm>
            <a:off x="6492240" y="3657600"/>
            <a:ext cx="1005840" cy="1005840"/>
          </a:xfrm>
          <a:prstGeom prst="ellipse">
            <a:avLst/>
          </a:prstGeom>
          <a:solidFill>
            <a:srgbClr val="1A1A2E"/>
          </a:solidFill>
          <a:ln/>
        </p:spPr>
      </p:sp>
      <p:sp>
        <p:nvSpPr>
          <p:cNvPr id="59" name="Shape 57"/>
          <p:cNvSpPr/>
          <p:nvPr/>
        </p:nvSpPr>
        <p:spPr>
          <a:xfrm>
            <a:off x="6629400" y="3794760"/>
            <a:ext cx="731520" cy="731520"/>
          </a:xfrm>
          <a:prstGeom prst="ellipse">
            <a:avLst/>
          </a:prstGeom>
          <a:solidFill>
            <a:srgbClr val="141422"/>
          </a:solidFill>
          <a:ln/>
        </p:spPr>
      </p:sp>
      <p:sp>
        <p:nvSpPr>
          <p:cNvPr id="60" name="Text 58"/>
          <p:cNvSpPr/>
          <p:nvPr/>
        </p:nvSpPr>
        <p:spPr>
          <a:xfrm>
            <a:off x="6492240" y="397764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Emotions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Get Started in 3 Commands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548640" cy="548640"/>
          </a:xfrm>
          <a:prstGeom prst="ellipse">
            <a:avLst/>
          </a:prstGeom>
          <a:solidFill>
            <a:srgbClr val="00D4A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280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0A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371600" y="1188720"/>
            <a:ext cx="7315200" cy="777240"/>
          </a:xfrm>
          <a:prstGeom prst="rect">
            <a:avLst/>
          </a:prstGeom>
          <a:solidFill>
            <a:srgbClr val="14142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554480" y="123444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-r requirements.txt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554480" y="162763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all dependencies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377440"/>
            <a:ext cx="548640" cy="548640"/>
          </a:xfrm>
          <a:prstGeom prst="ellipse">
            <a:avLst/>
          </a:prstGeom>
          <a:solidFill>
            <a:srgbClr val="00D4AA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377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0A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1371600" y="2286000"/>
            <a:ext cx="7315200" cy="777240"/>
          </a:xfrm>
          <a:prstGeom prst="rect">
            <a:avLst/>
          </a:prstGeom>
          <a:solidFill>
            <a:srgbClr val="14142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554480" y="233172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check_setup.py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554480" y="272491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your environment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474720"/>
            <a:ext cx="548640" cy="548640"/>
          </a:xfrm>
          <a:prstGeom prst="ellipse">
            <a:avLst/>
          </a:prstGeom>
          <a:solidFill>
            <a:srgbClr val="00D4AA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474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0A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1371600" y="3383280"/>
            <a:ext cx="7315200" cy="777240"/>
          </a:xfrm>
          <a:prstGeom prst="rect">
            <a:avLst/>
          </a:prstGeom>
          <a:solidFill>
            <a:srgbClr val="14142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554480" y="342900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streamlit run audio_analytics_app.py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554480" y="382219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the dashboard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solidFill>
            <a:srgbClr val="00D4AA">
              <a:alpha val="12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43891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on Windows, macOS &amp; Linux  —  CPU or GPU  —  Python 3.9+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7B61FF"/>
          </a:solidFill>
          <a:ln/>
        </p:spPr>
      </p:sp>
      <p:sp>
        <p:nvSpPr>
          <p:cNvPr id="4" name="Shape 2"/>
          <p:cNvSpPr/>
          <p:nvPr/>
        </p:nvSpPr>
        <p:spPr>
          <a:xfrm>
            <a:off x="-457200" y="3200400"/>
            <a:ext cx="2743200" cy="2743200"/>
          </a:xfrm>
          <a:prstGeom prst="ellipse">
            <a:avLst/>
          </a:prstGeom>
          <a:solidFill>
            <a:srgbClr val="7B61FF">
              <a:alpha val="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858000" y="-457200"/>
            <a:ext cx="2743200" cy="2743200"/>
          </a:xfrm>
          <a:prstGeom prst="ellipse">
            <a:avLst/>
          </a:prstGeom>
          <a:solidFill>
            <a:srgbClr val="00D4AA">
              <a:alpha val="8000"/>
            </a:srgbClr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3360" y="731520"/>
            <a:ext cx="822960" cy="8229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16459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Audio Intelligence Suite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914400" y="23774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every conversation into actionable intelligence.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1371600" y="3200400"/>
            <a:ext cx="2011680" cy="1005840"/>
          </a:xfrm>
          <a:prstGeom prst="rect">
            <a:avLst/>
          </a:prstGeom>
          <a:solidFill>
            <a:srgbClr val="14142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1371600" y="3200400"/>
            <a:ext cx="2011680" cy="4572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1" name="Text 8"/>
          <p:cNvSpPr/>
          <p:nvPr/>
        </p:nvSpPr>
        <p:spPr>
          <a:xfrm>
            <a:off x="1371600" y="33375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371600" y="37490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Licensed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749040" y="3200400"/>
            <a:ext cx="2011680" cy="1005840"/>
          </a:xfrm>
          <a:prstGeom prst="rect">
            <a:avLst/>
          </a:prstGeom>
          <a:solidFill>
            <a:srgbClr val="14142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749040" y="3200400"/>
            <a:ext cx="2011680" cy="45720"/>
          </a:xfrm>
          <a:prstGeom prst="rect">
            <a:avLst/>
          </a:prstGeom>
          <a:solidFill>
            <a:srgbClr val="7B61FF"/>
          </a:solidFill>
          <a:ln/>
        </p:spPr>
      </p:sp>
      <p:sp>
        <p:nvSpPr>
          <p:cNvPr id="15" name="Text 12"/>
          <p:cNvSpPr/>
          <p:nvPr/>
        </p:nvSpPr>
        <p:spPr>
          <a:xfrm>
            <a:off x="3749040" y="33375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Cost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749040" y="37490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APIs, No Cloud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126480" y="3200400"/>
            <a:ext cx="2011680" cy="1005840"/>
          </a:xfrm>
          <a:prstGeom prst="rect">
            <a:avLst/>
          </a:prstGeom>
          <a:solidFill>
            <a:srgbClr val="14142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126480" y="3200400"/>
            <a:ext cx="2011680" cy="4572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19" name="Text 16"/>
          <p:cNvSpPr/>
          <p:nvPr/>
        </p:nvSpPr>
        <p:spPr>
          <a:xfrm>
            <a:off x="6126480" y="33375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First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6126480" y="37490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On-Premise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914400" y="44348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Whisper · HuggingFace Transformers · Streamlit · Plotly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Audio Intelligence Suite — Pitch Deck</dc:title>
  <dc:subject>PptxGenJS Presentation</dc:subject>
  <dc:creator>Audio Intelligence Suite</dc:creator>
  <cp:lastModifiedBy>Audio Intelligence Suite</cp:lastModifiedBy>
  <cp:revision>1</cp:revision>
  <dcterms:created xsi:type="dcterms:W3CDTF">2026-03-22T18:47:22Z</dcterms:created>
  <dcterms:modified xsi:type="dcterms:W3CDTF">2026-03-22T18:47:22Z</dcterms:modified>
</cp:coreProperties>
</file>